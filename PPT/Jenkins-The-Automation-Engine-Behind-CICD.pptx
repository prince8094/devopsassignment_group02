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1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oom.com/share/58d09b55078f4aa9bf76c501eaa5c309" TargetMode="External"/><Relationship Id="rId5" Type="http://schemas.openxmlformats.org/officeDocument/2006/relationships/hyperlink" Target="https://www.loom.com/share/71581c970fe249eaba55cc0098601a68" TargetMode="Externa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72593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Jenkins: The Automation Engine Behind CI/CD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54102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practical, no-fluff introduction to Jenkins for engineering students learning DevOps — covering architecture, pipelines, CI/CD concepts, and real enterprise workflows.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433987"/>
            <a:ext cx="1247446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32577" y="4483596"/>
            <a:ext cx="16585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BASICS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63454" y="4433987"/>
            <a:ext cx="570295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62670" y="4483596"/>
            <a:ext cx="98144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216396" y="4433987"/>
            <a:ext cx="1146047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612" y="4483596"/>
            <a:ext cx="155719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85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→ What Jenkins Actually Is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8269" y="1355626"/>
            <a:ext cx="5469098" cy="2528888"/>
          </a:xfrm>
          <a:prstGeom prst="roundRect">
            <a:avLst>
              <a:gd name="adj" fmla="val 4473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504851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Manual Work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5328" y="1899642"/>
            <a:ext cx="5154980" cy="1360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developers push code daily to GitHub. Every push needs: pull → compile → test → package → deploy — done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manually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math: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 min/push × 20 pushes/day =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hours/day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wasted on repetitive, error-prone manual work. That's a full-time job just running builds.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93883" y="150485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Jenkins Actually 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93883" y="1899642"/>
            <a:ext cx="5242687" cy="1850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 is an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automation server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(written in Java) that orchestrates build, test, and deployment whenever source code changes — using a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"Pipeline as Code"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model, where the pipeline is a versioned file, not a UI click-through.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 is a 2011 fork of Hudson, after Oracle acquired Sun. It's the most widely used open-source CI/CD tool, and ships both a classic UI and a modern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"Blue Ocean"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visualizer.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4052391"/>
            <a:ext cx="3523368" cy="2164655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584" y="4228505"/>
            <a:ext cx="317115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🍽️</a:t>
            </a: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Restaurant Analogy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7584" y="4569916"/>
            <a:ext cx="3171150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 is the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restaurant manager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An order comes in (code is pushed) → the manager automatically routes it to the chef, waiter, and cashier (build/test/deploy agents) — nobody has to be told manually. The kitchen runs itself.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064" y="4052391"/>
            <a:ext cx="3523467" cy="2164655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0173" y="4228505"/>
            <a:ext cx="317125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Pipeline as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10173" y="4569916"/>
            <a:ext cx="3171250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definition lives in a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Jenkinsfile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checked into the repo alongside the source code. It's versioned, reviewable, and reproducible — not a fragile set of UI configurations that only one person knows how to click through.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6753" y="4052391"/>
            <a:ext cx="3523368" cy="2164655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2862" y="4228505"/>
            <a:ext cx="317115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Born in 2011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2862" y="4569916"/>
            <a:ext cx="3171150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Forked from Hudson after Oracle's acquisition of Sun Microsystems. Over a decade of community development has produced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1,800+ plugins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integrations with virtually every tool in the DevOps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58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— Controller, Agents &amp; the Trigger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54" y="1134666"/>
            <a:ext cx="6761688" cy="3094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2382" y="3494420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Agents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2543" y="3372147"/>
            <a:ext cx="1269437" cy="489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Jenkins Controller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01399" y="3372147"/>
            <a:ext cx="1269437" cy="489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Webhook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75476" y="3494420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Push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4348361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Controller never runs heavy builds itself in production — it schedules and dispatches. Agents do the actual work, and can be static VMs or ephemeral pods spun up on demand.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1475" y="4848423"/>
            <a:ext cx="3552339" cy="1499890"/>
          </a:xfrm>
          <a:prstGeom prst="roundRect">
            <a:avLst>
              <a:gd name="adj" fmla="val 37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080" y="4987032"/>
            <a:ext cx="32751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(Master)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080" y="5257205"/>
            <a:ext cx="327512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Schedules jobs, stores config and credentials, serves the UI, and dispatches work to agents. In production setups, it does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heavy builds itself — it's the brain, not the muscle.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19579" y="4848423"/>
            <a:ext cx="3552438" cy="1499890"/>
          </a:xfrm>
          <a:prstGeom prst="roundRect">
            <a:avLst>
              <a:gd name="adj" fmla="val 37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8184" y="4987032"/>
            <a:ext cx="32752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Agents (Nodes)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58184" y="5257205"/>
            <a:ext cx="327522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actual build/test/deploy work. Can be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VMs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ephemeral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Kubernetes plugin spins up a fresh pod per build and destroys it afterward, keeping builds clean and scalable.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77782" y="4848423"/>
            <a:ext cx="3552438" cy="1499890"/>
          </a:xfrm>
          <a:prstGeom prst="roundRect">
            <a:avLst>
              <a:gd name="adj" fmla="val 37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6387" y="4987032"/>
            <a:ext cx="32752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Webhook vs Polling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16387" y="5257205"/>
            <a:ext cx="3275228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Webhook: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 pings Jenkins the instant code lands — Jenkins starts immediately.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Polling: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Jenkins checks GitHub every few minutes — slower, but used as a fallback when Jenkins can't be reached directly (e.g. behind a firewall).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54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as Code — Job, Build, Jenkinsfile, Plugins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42541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Terminology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55986"/>
            <a:ext cx="5805243" cy="4136628"/>
          </a:xfrm>
          <a:prstGeom prst="roundRect">
            <a:avLst>
              <a:gd name="adj" fmla="val 159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302371"/>
            <a:ext cx="5805243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90751"/>
            <a:ext cx="5805243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79130"/>
            <a:ext cx="5805243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67510"/>
            <a:ext cx="5805243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055890"/>
            <a:ext cx="5805243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4983" y="1958181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1205" y="1958181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4983" y="2401391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21205" y="2401391"/>
            <a:ext cx="258210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configured task, e.g. "Build My Website"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983" y="3089771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21205" y="3089771"/>
            <a:ext cx="258210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execution instance of a job (Build #47)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983" y="3778151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1205" y="3778151"/>
            <a:ext cx="258210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sequence: Build → Test → Package → Deploy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983" y="4466530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1205" y="4466530"/>
            <a:ext cx="258210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file, checked into the repo, defining the pipeline as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983" y="5154910"/>
            <a:ext cx="319168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21205" y="5154910"/>
            <a:ext cx="258210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Extension such as Git, Docker, Kubernetes, Slack, SonarQube — 1,800+ exist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6439" y="1442541"/>
            <a:ext cx="468003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Declarative vs Scripted Pipeline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6439" y="1855986"/>
            <a:ext cx="4680031" cy="3005038"/>
          </a:xfrm>
          <a:prstGeom prst="roundRect">
            <a:avLst>
              <a:gd name="adj" fmla="val 21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6439" y="2302371"/>
            <a:ext cx="4680031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56439" y="3481090"/>
            <a:ext cx="4680031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56439" y="4414639"/>
            <a:ext cx="4680031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18798" y="1855986"/>
            <a:ext cx="9820" cy="30050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974211" y="1855986"/>
            <a:ext cx="9820" cy="30050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020444" y="1958181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79032" y="1958181"/>
            <a:ext cx="18445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Declarative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34446" y="1958181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Scripted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0444" y="2401391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79032" y="2401391"/>
            <a:ext cx="123494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opinionated (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{}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34446" y="2401391"/>
            <a:ext cx="123812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Groovy scripting, flexible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20444" y="3580110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79032" y="3580110"/>
            <a:ext cx="123494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teams, easier to read and maintain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134446" y="3580110"/>
            <a:ext cx="12381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conditional logic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20444" y="4513659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curve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79032" y="4513659"/>
            <a:ext cx="18445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34446" y="4513659"/>
            <a:ext cx="184770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6439" y="5028902"/>
            <a:ext cx="4680031" cy="1082576"/>
          </a:xfrm>
          <a:prstGeom prst="roundRect">
            <a:avLst>
              <a:gd name="adj" fmla="val 6096"/>
            </a:avLst>
          </a:prstGeom>
          <a:solidFill>
            <a:srgbClr val="DADBF1"/>
          </a:solidFill>
          <a:ln/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99" y="5265440"/>
            <a:ext cx="196349" cy="157063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366907" y="5202436"/>
            <a:ext cx="401250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most teams starting out: use Declarative. Switch to Scripted only when you hit a wall with conditional logic that Declarative can't express cleanly.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592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Declarative Jenkinsfile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61475" y="1129903"/>
            <a:ext cx="6416316" cy="5038923"/>
          </a:xfrm>
          <a:prstGeom prst="roundRect">
            <a:avLst>
              <a:gd name="adj" fmla="val 89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656117" y="1129903"/>
            <a:ext cx="6427031" cy="5038923"/>
          </a:xfrm>
          <a:prstGeom prst="roundRect">
            <a:avLst>
              <a:gd name="adj" fmla="val 32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90456" y="1237357"/>
            <a:ext cx="6158354" cy="482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DOCKER_TAG = "v${env.BUILD_NUMBER}"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'mvn clean package'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stage('Test')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'mvn test'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stage('Docker')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'docker build -t app:$DOCKER_TAG .'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stage('Deploy')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'kubectl apply -f k8s/deployment.yaml'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 {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mail to: 'team@company.com',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subject: 'Build Failed'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46270" y="1121172"/>
            <a:ext cx="419020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Each Block Does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3570" y="1354931"/>
            <a:ext cx="4202900" cy="5532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79121" y="1367631"/>
            <a:ext cx="4057350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 any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79121" y="1611709"/>
            <a:ext cx="405735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on any available agent. In production you'd pin to a specific label like </a:t>
            </a: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 { label 'linux' }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3570" y="2022475"/>
            <a:ext cx="4202900" cy="5532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121" y="2035175"/>
            <a:ext cx="4057350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{}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479121" y="2279253"/>
            <a:ext cx="405735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 env vars for the whole pipeline. Here, </a:t>
            </a: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DOCKER_TAG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auto-versioned using the build number.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3570" y="2690019"/>
            <a:ext cx="4202900" cy="5532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9121" y="2702719"/>
            <a:ext cx="4057350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stages {}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479121" y="2946797"/>
            <a:ext cx="405735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</a:t>
            </a: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stage()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maps to a visible step in the Blue Ocean UI — Build, Test, Docker, Deploy.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3570" y="3357563"/>
            <a:ext cx="4202900" cy="5532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79121" y="3370263"/>
            <a:ext cx="4057350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{ failure {} }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7479121" y="3614341"/>
            <a:ext cx="405735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makes CI "fast feedback" instead of a silent failure. The team gets an email the moment something breaks — not hours later.</a:t>
            </a:r>
            <a:endParaRPr 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7E677-2093-8A2D-4309-3DFC88F7CD04}"/>
              </a:ext>
            </a:extLst>
          </p:cNvPr>
          <p:cNvSpPr txBox="1"/>
          <p:nvPr/>
        </p:nvSpPr>
        <p:spPr>
          <a:xfrm>
            <a:off x="7333570" y="4648598"/>
            <a:ext cx="370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Installation Demo</a:t>
            </a:r>
            <a:endParaRPr lang="en-IN" dirty="0"/>
          </a:p>
        </p:txBody>
      </p:sp>
      <p:sp>
        <p:nvSpPr>
          <p:cNvPr id="20" name="TextBox 19">
            <a:hlinkClick r:id="rId6"/>
            <a:extLst>
              <a:ext uri="{FF2B5EF4-FFF2-40B4-BE49-F238E27FC236}">
                <a16:creationId xmlns:a16="http://schemas.microsoft.com/office/drawing/2014/main" id="{27894648-D6C1-21B1-B6F8-D65E74C783F7}"/>
              </a:ext>
            </a:extLst>
          </p:cNvPr>
          <p:cNvSpPr txBox="1"/>
          <p:nvPr/>
        </p:nvSpPr>
        <p:spPr>
          <a:xfrm>
            <a:off x="7333570" y="5245364"/>
            <a:ext cx="2136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Setup Demo</a:t>
            </a:r>
            <a:endParaRPr lang="en-IN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559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 / CD — Precisely, Not Loosely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327944"/>
            <a:ext cx="10868745" cy="1779191"/>
          </a:xfrm>
          <a:prstGeom prst="roundRect">
            <a:avLst>
              <a:gd name="adj" fmla="val 37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177432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1753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660749"/>
            <a:ext cx="10868745" cy="98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6075" y="143013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96" y="143013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61917" y="143013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involved?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6075" y="187334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 – Continuous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43996" y="187334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push is auto-built and auto-tested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1917" y="187334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6075" y="231655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CD – Continuous Delivery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43996" y="231655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is packaged and staged, ready to 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1917" y="2316559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a human approves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6075" y="2759770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CD – Continuous Deployment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43996" y="2759770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Passes tests and goes straight to production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1917" y="2759770"/>
            <a:ext cx="391338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269" y="3275012"/>
            <a:ext cx="5469098" cy="3044428"/>
          </a:xfrm>
          <a:prstGeom prst="roundRect">
            <a:avLst>
              <a:gd name="adj" fmla="val 3716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05328" y="3424238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vs Deployment — The Key Distinction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5328" y="3819029"/>
            <a:ext cx="515498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differ only in whether a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approval gate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exists before production. Most real companies use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Delivery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(auto-deploy to staging, manual approval for production) because of risk. Continuous Deployment is reserved for mature, well-tested pipelines.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883" y="3424238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 — Try It Now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93883" y="3819029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Item → Freestyle Project → name it "HelloWorld" → Execute Shell step: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93883" y="4477246"/>
            <a:ext cx="5242687" cy="1049635"/>
          </a:xfrm>
          <a:prstGeom prst="roundRect">
            <a:avLst>
              <a:gd name="adj" fmla="val 6287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286045" y="4477246"/>
            <a:ext cx="5258363" cy="1049635"/>
          </a:xfrm>
          <a:prstGeom prst="roundRect">
            <a:avLst>
              <a:gd name="adj" fmla="val 224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82394" y="4634309"/>
            <a:ext cx="486566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Students"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3883" y="5694759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→ Build Now → console output appears instantly. This shows the Controller dispatching a shell step to an Agent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729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Flow + Trade-offs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97" y="1053505"/>
            <a:ext cx="7608102" cy="3286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07307" y="3497960"/>
            <a:ext cx="1129655" cy="20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107307" y="3762235"/>
            <a:ext cx="1129655" cy="27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 runs unit tests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007970" y="3497960"/>
            <a:ext cx="1129655" cy="20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&amp; Push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07970" y="3762235"/>
            <a:ext cx="1129655" cy="27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Docker image and push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660575" y="1350042"/>
            <a:ext cx="1129655" cy="20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60575" y="1614316"/>
            <a:ext cx="1129655" cy="27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code to GitHub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1609" y="1350042"/>
            <a:ext cx="1129655" cy="20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11609" y="1614316"/>
            <a:ext cx="1129655" cy="27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Staging tests then manual approval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5641" y="1350042"/>
            <a:ext cx="1129655" cy="20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Gate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575641" y="1614316"/>
            <a:ext cx="1129655" cy="27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 checks coverage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5" y="4430911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full enterprise CI/CD flow. SonarQube acts as a quality gate — if code coverage or bug thresholds aren't met, the pipeline stops before a bad image ever gets built.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61475" y="4679454"/>
            <a:ext cx="10868745" cy="1648817"/>
          </a:xfrm>
          <a:prstGeom prst="roundRect">
            <a:avLst>
              <a:gd name="adj" fmla="val 294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475" y="4956373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61475" y="5230118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1475" y="5503863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61475" y="5777607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61475" y="6051352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83511" y="4740771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1534" y="4740771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3511" y="5014516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Free, open-source, huge plugin ecosystem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1534" y="5014516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setup and maintenance overhead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83511" y="5288260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community and integrations (Docker, K8s, SonarQube, Slack)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11534" y="5288260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 can bottleneck if not scaled with agents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3511" y="5562005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builds across many agents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11534" y="5562005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 conflicts and version drift are common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3511" y="5835749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Pipeline-as-code is version-controlled and reviewable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211534" y="5835749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is dated compared to GitHub Actions or GitLab CI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83511" y="6109494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Self-hosted, full control over infrastructure and security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211534" y="6109494"/>
            <a:ext cx="58062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managing your own servers, unlike SaaS CI tools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511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Recap + Interview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027311"/>
            <a:ext cx="4903962" cy="5375573"/>
          </a:xfrm>
          <a:prstGeom prst="roundRect">
            <a:avLst>
              <a:gd name="adj" fmla="val 1943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133078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One-Paragraph 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483" y="1445518"/>
            <a:ext cx="463945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 is the </a:t>
            </a: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 engine</a:t>
            </a: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triggered by a GitHub webhook, run as code via a Jenkinsfile, distributed across Controller and Agents — that turns a raw </a:t>
            </a:r>
            <a:r>
              <a:rPr lang="en-US" sz="100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a tested, deployed application with </a:t>
            </a: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manual steps</a:t>
            </a: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8483" y="2365970"/>
            <a:ext cx="4639452" cy="19050"/>
          </a:xfrm>
          <a:prstGeom prst="roundRect">
            <a:avLst>
              <a:gd name="adj" fmla="val 5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8483" y="2537123"/>
            <a:ext cx="46394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Stack in One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83" y="2862858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8483" y="3068538"/>
            <a:ext cx="46394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698483" y="3172718"/>
            <a:ext cx="4639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pushes code to 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483" y="356820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8483" y="3773884"/>
            <a:ext cx="46394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98483" y="3878064"/>
            <a:ext cx="4639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triggers Jenkins Controller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8483" y="4273550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8483" y="4479230"/>
            <a:ext cx="46394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698483" y="4583410"/>
            <a:ext cx="4639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Jenkinsfile defines what runs and where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483" y="497889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483" y="5184577"/>
            <a:ext cx="46394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698483" y="5288756"/>
            <a:ext cx="4639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execute build, test, package, deploy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483" y="568424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8483" y="5889923"/>
            <a:ext cx="463945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98483" y="5994102"/>
            <a:ext cx="46394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fire on pass or fail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03943" y="1133078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Interview Questions — Test Yourself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03943" y="145881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53551" y="148361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107357" y="1501775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 between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Delivery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Deployment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03943" y="196810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53551" y="199290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107357" y="2011065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vs Agent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who does what?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03943" y="247739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53551" y="25021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107357" y="2520355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Declarative vs Scripted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 — when would you pick each?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03943" y="2986683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3551" y="301148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107357" y="3029645"/>
            <a:ext cx="54291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triggers a build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a GitHub push, and what's the fallback if that mechanism can't reach Jenkins?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03943" y="362227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3551" y="364708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107357" y="3665240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a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Jenkinsfile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why store it in the repo instead of Jenkins' UI?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03943" y="413156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53551" y="415637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107357" y="4174530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 vs Build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what's the difference?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03943" y="464085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3551" y="466566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6107357" y="4683820"/>
            <a:ext cx="54291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plugins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what each does.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02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 Reference — Everything on One Card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340048"/>
            <a:ext cx="5367402" cy="2075755"/>
          </a:xfrm>
          <a:prstGeom prst="roundRect">
            <a:avLst>
              <a:gd name="adj" fmla="val 301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6649" y="1495227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Numbers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6649" y="1808063"/>
            <a:ext cx="5057053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2011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Jenkins forked from Hudson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1,800+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available plugins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hrs/day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saved by automating 20 pushes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agent types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static VM, Docker, K8s pod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62818" y="1340048"/>
            <a:ext cx="5367402" cy="2075755"/>
          </a:xfrm>
          <a:prstGeom prst="roundRect">
            <a:avLst>
              <a:gd name="adj" fmla="val 301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7993" y="1495227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Must-Know Terms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17993" y="1808063"/>
            <a:ext cx="5057053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configured task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one run of a job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Jenkinsfile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pipeline as code, in the repo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Webhook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instant trigger from GitHub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Polling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fallback, checks on a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3549749"/>
            <a:ext cx="5367402" cy="1769170"/>
          </a:xfrm>
          <a:prstGeom prst="roundRect">
            <a:avLst>
              <a:gd name="adj" fmla="val 3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49" y="3704927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 vs CD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6649" y="4017764"/>
            <a:ext cx="5057053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auto build + test on every push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staged, human approves prod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fully automated to prod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companies: 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(safer)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2818" y="3549749"/>
            <a:ext cx="5367402" cy="1769170"/>
          </a:xfrm>
          <a:prstGeom prst="roundRect">
            <a:avLst>
              <a:gd name="adj" fmla="val 3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7993" y="3704927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in Brief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17993" y="4017764"/>
            <a:ext cx="5057053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brain: schedules, dispatches, UI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muscle: runs the actual build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Declarative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{}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low curve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Scripted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full Groovy, high flexibility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5469632"/>
            <a:ext cx="10868745" cy="781348"/>
          </a:xfrm>
          <a:prstGeom prst="roundRect">
            <a:avLst>
              <a:gd name="adj" fmla="val 8001"/>
            </a:avLst>
          </a:prstGeom>
          <a:solidFill>
            <a:srgbClr val="DADBF1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9" y="5677793"/>
            <a:ext cx="186031" cy="1488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5154" y="5640784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Jenkinsfile is the single most important concept to internalize. Everything else — agents, plugins, webhooks — exists to support what's defined in that file.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1596</Words>
  <Application>Microsoft Office PowerPoint</Application>
  <PresentationFormat>Widescreen</PresentationFormat>
  <Paragraphs>209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Inter Bold</vt:lpstr>
      <vt:lpstr>Inter Light</vt:lpstr>
      <vt:lpstr>Twemoji Mozilla</vt:lpstr>
      <vt:lpstr>Consolas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Prince Gupta</cp:lastModifiedBy>
  <cp:revision>2</cp:revision>
  <dcterms:created xsi:type="dcterms:W3CDTF">2026-07-20T03:29:37Z</dcterms:created>
  <dcterms:modified xsi:type="dcterms:W3CDTF">2026-07-21T20:35:26Z</dcterms:modified>
</cp:coreProperties>
</file>